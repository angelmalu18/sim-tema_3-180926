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95" r:id="rId17"/>
    <p:sldId id="296" r:id="rId18"/>
    <p:sldId id="297" r:id="rId19"/>
    <p:sldId id="298" r:id="rId20"/>
    <p:sldId id="269" r:id="rId21"/>
    <p:sldId id="270" r:id="rId22"/>
    <p:sldId id="299" r:id="rId23"/>
    <p:sldId id="300" r:id="rId24"/>
    <p:sldId id="301" r:id="rId25"/>
    <p:sldId id="271" r:id="rId26"/>
    <p:sldId id="302" r:id="rId27"/>
    <p:sldId id="303" r:id="rId28"/>
    <p:sldId id="304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305" r:id="rId37"/>
    <p:sldId id="279" r:id="rId38"/>
    <p:sldId id="280" r:id="rId39"/>
    <p:sldId id="306" r:id="rId40"/>
    <p:sldId id="281" r:id="rId41"/>
    <p:sldId id="307" r:id="rId42"/>
    <p:sldId id="282" r:id="rId43"/>
    <p:sldId id="283" r:id="rId44"/>
    <p:sldId id="284" r:id="rId45"/>
    <p:sldId id="285" r:id="rId46"/>
    <p:sldId id="286" r:id="rId47"/>
    <p:sldId id="287" r:id="rId48"/>
    <p:sldId id="288" r:id="rId49"/>
    <p:sldId id="308" r:id="rId50"/>
    <p:sldId id="289" r:id="rId51"/>
    <p:sldId id="290" r:id="rId52"/>
    <p:sldId id="291" r:id="rId53"/>
    <p:sldId id="309" r:id="rId54"/>
    <p:sldId id="292" r:id="rId55"/>
    <p:sldId id="293" r:id="rId56"/>
    <p:sldId id="294" r:id="rId57"/>
    <p:sldId id="310" r:id="rId5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" Target="slides/slide3.xml"/><Relationship Id="rId59" Type="http://schemas.openxmlformats.org/officeDocument/2006/relationships/presProps" Target="presProps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stat.ethz.ch/R-manual/R-devel/library/base/html/Random.html" TargetMode="External"/><Relationship Id="rId2" Type="http://schemas.openxmlformats.org/officeDocument/2006/relationships/hyperlink" Target="https://docs.python.org/3/library/random.html" TargetMode="External"/><Relationship Id="rId1" Type="http://schemas.openxmlformats.org/officeDocument/2006/relationships/hyperlink" Target="https://docs.oracle.com/en/java/javase/21/docs/api/java.base/java/util/Random.html" TargetMode="Externa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github.com/angelmalu18/Sim-Tema_3-180926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1A365D"/>
                </a:solidFill>
              </a14:hiddenFill>
            </a:ext>
          </a:extLst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TECNOLÓGICO NACIONAL DE MÉXICO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REPORTE DE PRÁCTICA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3</a:t>
            </a:r>
            <a:r>
              <a:rPr lang="es-MX" alt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.1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</a:t>
            </a:r>
            <a:r>
              <a:rPr lang="es-MX" alt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Reporte de practica </a:t>
            </a: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Generación de Variables Aleatorias</a:t>
            </a:r>
            <a:endPara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i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371600" y="242316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805AD5"/>
          </a:solidFill>
        </p:spPr>
      </p:sp>
      <p:sp>
        <p:nvSpPr>
          <p:cNvPr id="10" name="Text 8"/>
          <p:cNvSpPr/>
          <p:nvPr/>
        </p:nvSpPr>
        <p:spPr>
          <a:xfrm>
            <a:off x="1371600" y="25146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242316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38A169"/>
          </a:solidFill>
        </p:spPr>
      </p:sp>
      <p:sp>
        <p:nvSpPr>
          <p:cNvPr id="12" name="Text 10"/>
          <p:cNvSpPr/>
          <p:nvPr/>
        </p:nvSpPr>
        <p:spPr>
          <a:xfrm>
            <a:off x="3657600" y="25146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Museo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242316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DD6B20"/>
          </a:solidFill>
        </p:spPr>
      </p:sp>
      <p:sp>
        <p:nvSpPr>
          <p:cNvPr id="14" name="Text 12"/>
          <p:cNvSpPr/>
          <p:nvPr/>
        </p:nvSpPr>
        <p:spPr>
          <a:xfrm>
            <a:off x="5943600" y="25146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Tráfico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DOCENTE: Ing. Francisco Javier Mingo Velázquez</a:t>
            </a:r>
            <a:endParaRPr lang="en-US" sz="13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PRESENTA: José Ángel Gómez Rincón  |  Matrícula: 241260049  |  Semestre: Quinto</a:t>
            </a:r>
            <a:endParaRPr lang="en-US" sz="13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397764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de septiembre de 2026  ·  Venustiano Carranza, Chiapas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Asignatura: Simulación  |  Clave: SCD-1022  |  Plan: ISIC 2010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 rotWithShape="1">
          <a:blip r:embed="rId1" cstate="print"/>
          <a:srcRect/>
          <a:stretch>
            <a:fillRect/>
          </a:stretch>
        </p:blipFill>
        <p:spPr bwMode="auto">
          <a:xfrm>
            <a:off x="277495" y="160020"/>
            <a:ext cx="1516380" cy="10896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CuadroTexto 13"/>
          <p:cNvSpPr txBox="1"/>
          <p:nvPr/>
        </p:nvSpPr>
        <p:spPr>
          <a:xfrm>
            <a:off x="765175" y="188595"/>
            <a:ext cx="7124700" cy="78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6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b="1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CuadroTexto 15"/>
          <p:cNvSpPr txBox="1"/>
          <p:nvPr/>
        </p:nvSpPr>
        <p:spPr>
          <a:xfrm>
            <a:off x="1793774" y="1143308"/>
            <a:ext cx="6096000" cy="32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4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4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sz="1400" b="1" kern="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Imagen 21" descr="Logotipo&#10;&#10;Descripción generada automáticamente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36830"/>
            <a:ext cx="2301875" cy="10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práctica consiste en tres simulaciones de la vida real (cafetería, museo de ciencias y tráfico en una intersección) en las que el programa genera de forma pseudoaleatoria el tipo de entidad, los tiempos entre llegadas y los tiempos de servicio. El mismo problema se resolvió en Java (Swing), Python (tkinter) y R (consola).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núcleo es un generador R~U(0,1) transformado con los métodos del Tema 3 de la Instrumentación Didáctica (SCD-1022): transformada inversa, convolución, composición, procedimientos especiales y pruebas estadísticas. Este reporte documenta cada bloque de código con el archivo y el rango de líneas exactos de los archivos entregados en el repositorio.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Objetivo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Analizar y explicar la implementación de generadores de variables aleatorias en Java, Python y R mediante tres simulaciones, identificando cómo cada lenguaje aplica el Tema 3.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BF8FF"/>
          </a:solidFill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Identificar la función generadora de R~U(0,1) en cada lenguaje.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BF8FF"/>
          </a:solidFill>
        </p:spPr>
      </p:sp>
      <p:sp>
        <p:nvSpPr>
          <p:cNvPr id="8" name="Text 6"/>
          <p:cNvSpPr/>
          <p:nvPr/>
        </p:nvSpPr>
        <p:spPr>
          <a:xfrm>
            <a:off x="640080" y="219456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Explicar la traducción de R a variables discretas y continuas según el Tema 3.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BF8FF"/>
          </a:solidFill>
        </p:spPr>
      </p:sp>
      <p:sp>
        <p:nvSpPr>
          <p:cNvPr id="10" name="Text 8"/>
          <p:cNvSpPr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Documentar transformada inversa, convolución, composición y procedimientos especiales.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BF8FF"/>
          </a:solidFill>
        </p:spPr>
      </p:sp>
      <p:sp>
        <p:nvSpPr>
          <p:cNvPr id="12" name="Text 10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Comparar implementaciones y validar con pruebas estadísticas.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Justificación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Según la Instrumentación Didáctica de Simulación (SCD-1022), en el Tema 3 el estudiante debe conocer y comprender métodos y procedimientos especiales para generar variables aleatorias. Esta práctica permite comparar cómo Java, Python y R resuelven el mismo problema, aplicar los subtemas 3.1 a 3.6 de forma documentada y cumplir la actividad de práctica en los tres lenguajes sobre generación de variables aleatorias.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Marco teórico — Tema 3 (Instrumentación Didáctica SCD-1022)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Tema 3 busca que el estudiante conozca y comprenda métodos y procedimientos especiales para generar variables aleatorias, siguiendo las distribuciones estadísticas más conocidas.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411480"/>
          </a:xfrm>
          <a:prstGeom prst="roundRect">
            <a:avLst>
              <a:gd name="adj" fmla="val 8889"/>
            </a:avLst>
          </a:prstGeom>
          <a:solidFill>
            <a:srgbClr val="EBF8FF"/>
          </a:solidFill>
        </p:spPr>
      </p:sp>
      <p:sp>
        <p:nvSpPr>
          <p:cNvPr id="6" name="Text 4"/>
          <p:cNvSpPr/>
          <p:nvPr/>
        </p:nvSpPr>
        <p:spPr>
          <a:xfrm>
            <a:off x="457200" y="1307592"/>
            <a:ext cx="868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30759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Conceptos básicos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114800" cy="411480"/>
          </a:xfrm>
          <a:prstGeom prst="roundRect">
            <a:avLst>
              <a:gd name="adj" fmla="val 8889"/>
            </a:avLst>
          </a:prstGeom>
          <a:solidFill>
            <a:srgbClr val="EBF8FF"/>
          </a:solidFill>
        </p:spPr>
      </p:sp>
      <p:sp>
        <p:nvSpPr>
          <p:cNvPr id="9" name="Text 7"/>
          <p:cNvSpPr/>
          <p:nvPr/>
        </p:nvSpPr>
        <p:spPr>
          <a:xfrm>
            <a:off x="457200" y="1810512"/>
            <a:ext cx="868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181051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Variables aleatorias discretas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114800" cy="411480"/>
          </a:xfrm>
          <a:prstGeom prst="roundRect">
            <a:avLst>
              <a:gd name="adj" fmla="val 8889"/>
            </a:avLst>
          </a:prstGeom>
          <a:solidFill>
            <a:srgbClr val="EBF8FF"/>
          </a:solidFill>
        </p:spPr>
      </p:sp>
      <p:sp>
        <p:nvSpPr>
          <p:cNvPr id="12" name="Text 10"/>
          <p:cNvSpPr/>
          <p:nvPr/>
        </p:nvSpPr>
        <p:spPr>
          <a:xfrm>
            <a:off x="457200" y="2313432"/>
            <a:ext cx="868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31343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Variables aleatorias continuas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4114800" cy="411480"/>
          </a:xfrm>
          <a:prstGeom prst="roundRect">
            <a:avLst>
              <a:gd name="adj" fmla="val 8889"/>
            </a:avLst>
          </a:prstGeom>
          <a:solidFill>
            <a:srgbClr val="EBF8FF"/>
          </a:solidFill>
        </p:spPr>
      </p:sp>
      <p:sp>
        <p:nvSpPr>
          <p:cNvPr id="15" name="Text 13"/>
          <p:cNvSpPr/>
          <p:nvPr/>
        </p:nvSpPr>
        <p:spPr>
          <a:xfrm>
            <a:off x="457200" y="2816352"/>
            <a:ext cx="868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281635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Métodos para generar VA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4114800" cy="411480"/>
          </a:xfrm>
          <a:prstGeom prst="roundRect">
            <a:avLst>
              <a:gd name="adj" fmla="val 8889"/>
            </a:avLst>
          </a:prstGeom>
          <a:solidFill>
            <a:srgbClr val="EBF8FF"/>
          </a:solidFill>
        </p:spPr>
      </p:sp>
      <p:sp>
        <p:nvSpPr>
          <p:cNvPr id="18" name="Text 16"/>
          <p:cNvSpPr/>
          <p:nvPr/>
        </p:nvSpPr>
        <p:spPr>
          <a:xfrm>
            <a:off x="457200" y="3319272"/>
            <a:ext cx="868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3.4.1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331927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Método de la transformada inversa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4114800" cy="411480"/>
          </a:xfrm>
          <a:prstGeom prst="roundRect">
            <a:avLst>
              <a:gd name="adj" fmla="val 8889"/>
            </a:avLst>
          </a:prstGeom>
          <a:solidFill>
            <a:srgbClr val="EBF8FF"/>
          </a:solidFill>
        </p:spPr>
      </p:sp>
      <p:sp>
        <p:nvSpPr>
          <p:cNvPr id="21" name="Text 19"/>
          <p:cNvSpPr/>
          <p:nvPr/>
        </p:nvSpPr>
        <p:spPr>
          <a:xfrm>
            <a:off x="4846320" y="1307592"/>
            <a:ext cx="868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3.4.2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60720" y="130759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Método de convolución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737360"/>
            <a:ext cx="4114800" cy="411480"/>
          </a:xfrm>
          <a:prstGeom prst="roundRect">
            <a:avLst>
              <a:gd name="adj" fmla="val 8889"/>
            </a:avLst>
          </a:prstGeom>
          <a:solidFill>
            <a:srgbClr val="EBF8FF"/>
          </a:solidFill>
        </p:spPr>
      </p:sp>
      <p:sp>
        <p:nvSpPr>
          <p:cNvPr id="24" name="Text 22"/>
          <p:cNvSpPr/>
          <p:nvPr/>
        </p:nvSpPr>
        <p:spPr>
          <a:xfrm>
            <a:off x="4846320" y="1810512"/>
            <a:ext cx="868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3.4.3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0" y="181051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Método de composición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240280"/>
            <a:ext cx="4114800" cy="411480"/>
          </a:xfrm>
          <a:prstGeom prst="roundRect">
            <a:avLst>
              <a:gd name="adj" fmla="val 8889"/>
            </a:avLst>
          </a:prstGeom>
          <a:solidFill>
            <a:srgbClr val="EBF8FF"/>
          </a:solidFill>
        </p:spPr>
      </p:sp>
      <p:sp>
        <p:nvSpPr>
          <p:cNvPr id="27" name="Text 25"/>
          <p:cNvSpPr/>
          <p:nvPr/>
        </p:nvSpPr>
        <p:spPr>
          <a:xfrm>
            <a:off x="4846320" y="2313432"/>
            <a:ext cx="868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0" y="231343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Procedimientos especiales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2743200"/>
            <a:ext cx="4114800" cy="411480"/>
          </a:xfrm>
          <a:prstGeom prst="roundRect">
            <a:avLst>
              <a:gd name="adj" fmla="val 8889"/>
            </a:avLst>
          </a:prstGeom>
          <a:solidFill>
            <a:srgbClr val="EBF8FF"/>
          </a:solidFill>
        </p:spPr>
      </p:sp>
      <p:sp>
        <p:nvSpPr>
          <p:cNvPr id="30" name="Text 28"/>
          <p:cNvSpPr/>
          <p:nvPr/>
        </p:nvSpPr>
        <p:spPr>
          <a:xfrm>
            <a:off x="4846320" y="2816352"/>
            <a:ext cx="868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60720" y="281635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Pruebas estadísticas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05AD5"/>
          </a:solidFill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EJEMPLO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Importaciones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SimulacionCafeteria.py   ·   Líneas 22 – 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8595360" cy="1353312"/>
          </a:xfrm>
          <a:prstGeom prst="roundRect">
            <a:avLst>
              <a:gd name="adj" fmla="val 2703"/>
            </a:avLst>
          </a:prstGeom>
          <a:solidFill>
            <a:srgbClr val="F0FFF4"/>
          </a:solidFill>
        </p:spPr>
      </p:sp>
      <p:sp>
        <p:nvSpPr>
          <p:cNvPr id="12" name="Text 10"/>
          <p:cNvSpPr/>
          <p:nvPr/>
        </p:nvSpPr>
        <p:spPr>
          <a:xfrm>
            <a:off x="365760" y="3820287"/>
            <a:ext cx="8503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Incorpora el módulo math para evaluar ln, √ y funciones trigonométricas de las fórmulas de transformación; random como generador de R~U(0,1); tkinter para construir el entorno gráfico animado y el panel de resultados; y deque para almacenar series temporales de las variables generadas.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1094740"/>
            <a:ext cx="7177405" cy="23393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Semilla y uniforme() — 3.1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SimulacionCafeteria.py   ·   Líneas 28 – 34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8595360" cy="914400"/>
          </a:xfrm>
          <a:prstGeom prst="roundRect">
            <a:avLst>
              <a:gd name="adj" fmla="val 4000"/>
            </a:avLst>
          </a:prstGeom>
          <a:solidFill>
            <a:srgbClr val="F0FFF4"/>
          </a:solidFill>
        </p:spPr>
      </p:sp>
      <p:sp>
        <p:nvSpPr>
          <p:cNvPr id="12" name="Text 10"/>
          <p:cNvSpPr/>
          <p:nvPr/>
        </p:nvSpPr>
        <p:spPr>
          <a:xfrm>
            <a:off x="320040" y="3749040"/>
            <a:ext cx="8503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Fija la semilla del generador Mersenne Twister para garantizar reproducibilidad de la secuencia. La función uniforme() invoca random.random() y devuelve R ∈ [0,1), base de todos los métodos de generación del Tema 3 (subtema 3.1).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385" y="913765"/>
            <a:ext cx="8079105" cy="3117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exponencial() — 3.4.1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SimulacionCafeteria.py   ·   Líneas 36 – 39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8595360" cy="694944"/>
          </a:xfrm>
          <a:prstGeom prst="roundRect">
            <a:avLst>
              <a:gd name="adj" fmla="val 5263"/>
            </a:avLst>
          </a:prstGeom>
          <a:solidFill>
            <a:srgbClr val="F0FFF4"/>
          </a:solidFill>
        </p:spPr>
      </p:sp>
      <p:sp>
        <p:nvSpPr>
          <p:cNvPr id="12" name="Text 10"/>
          <p:cNvSpPr/>
          <p:nvPr/>
        </p:nvSpPr>
        <p:spPr>
          <a:xfrm>
            <a:off x="320040" y="3797300"/>
            <a:ext cx="8503920" cy="8470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Aplica el método de la transformada inversa: X = F⁻¹(R) = −(1/λ)·ln(1−R). Genera variables Exponenciales con media 1/λ, utilizadas como tiempos entre llegadas de clientes (subtema 3.4.1).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151890"/>
            <a:ext cx="8142605" cy="26460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tipo_cliente() — 3.2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SimulacionCafeteria.py   ·   Líneas 42 – 44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8595360" cy="694944"/>
          </a:xfrm>
          <a:prstGeom prst="roundRect">
            <a:avLst>
              <a:gd name="adj" fmla="val 5263"/>
            </a:avLst>
          </a:prstGeom>
          <a:solidFill>
            <a:srgbClr val="F0FFF4"/>
          </a:solidFill>
        </p:spPr>
      </p:sp>
      <p:sp>
        <p:nvSpPr>
          <p:cNvPr id="12" name="Text 10"/>
          <p:cNvSpPr/>
          <p:nvPr/>
        </p:nvSpPr>
        <p:spPr>
          <a:xfrm>
            <a:off x="320040" y="4133215"/>
            <a:ext cx="8503920" cy="6216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Implementa una variable aleatoria discreta multinomial mediante comparación de R con la función de distribución acumulada: P(VIP)=0.25 y P(Regular)=0.75 (subtema 3.2).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430" y="960755"/>
            <a:ext cx="8340725" cy="31896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erlang + composicion — 3.4.2 / 3.4.3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SimulacionCafeteria.py   ·   Líneas 46 – 57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8595360" cy="1572768"/>
          </a:xfrm>
          <a:prstGeom prst="roundRect">
            <a:avLst>
              <a:gd name="adj" fmla="val 2326"/>
            </a:avLst>
          </a:prstGeom>
          <a:solidFill>
            <a:srgbClr val="F0FFF4"/>
          </a:solidFill>
        </p:spPr>
      </p:sp>
      <p:sp>
        <p:nvSpPr>
          <p:cNvPr id="12" name="Text 10"/>
          <p:cNvSpPr/>
          <p:nvPr/>
        </p:nvSpPr>
        <p:spPr>
          <a:xfrm>
            <a:off x="320040" y="3955415"/>
            <a:ext cx="8503920" cy="7994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erlang_convolucion aplica el método de convolución sumando k variables Exponenciales i.i.d. (Erlang-k). composicion_tiempo_atencion define una mezcla de distribuciones condicionada al tipo de cliente: VIP → Exp(0.7); Regular → Exp o Erlang-2 con probabilidad 0.30 (subtemas 3.4.2 y 3.4.3).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510" y="932815"/>
            <a:ext cx="8340725" cy="2936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box_muller + chi2 — 3.5 / 3.6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SimulacionCafeteria.py   ·   Líneas 59 – 80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151630"/>
            <a:ext cx="8503920" cy="6032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Box-Muller genera una variable Normal N(μ,σ²) a partir de dos uniformes independientes (procedimiento especial, 3.5), usada como factor de ánimo del barista. prueba_chi2 agrupa los datos en k clases, calcula χ² = Σ(Oi−Ei)²/Ei y valida el ajuste a la Exponencial teórica (subtema 3.6).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59790"/>
            <a:ext cx="8373745" cy="29889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Clase Cliente + iniciar + paso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SimulacionCafeteria.py   ·   Líneas 83 – 312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8595360" cy="1133856"/>
          </a:xfrm>
          <a:prstGeom prst="roundRect">
            <a:avLst>
              <a:gd name="adj" fmla="val 3226"/>
            </a:avLst>
          </a:prstGeom>
          <a:solidFill>
            <a:srgbClr val="F0FFF4"/>
          </a:solidFill>
        </p:spPr>
      </p:sp>
      <p:sp>
        <p:nvSpPr>
          <p:cNvPr id="12" name="Text 10"/>
          <p:cNvSpPr/>
          <p:nvPr/>
        </p:nvSpPr>
        <p:spPr>
          <a:xfrm>
            <a:off x="320040" y="4232910"/>
            <a:ext cx="8503920" cy="5219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Cliente encapsula el estado de cada entidad (tipo discreto, tiempo de atención continuo, posición y estado en la animación). iniciar() genera el factor de ánimo vía Box-Muller y el primer inter-arribo. paso() es el motor de eventos discretos: genera VA, actualiza la cola, redibuja el canvas y al finalizar invoca la prueba Chi-cuadrada.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685" y="859155"/>
            <a:ext cx="8619490" cy="33013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Clase Cliente + iniciar + paso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37515"/>
            <a:ext cx="9144000" cy="4705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8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Clase Cliente + iniciar + paso</a:t>
            </a:r>
            <a:endParaRPr lang="en-US" sz="1300" dirty="0"/>
          </a:p>
        </p:txBody>
      </p:sp>
      <p:sp>
        <p:nvSpPr>
          <p:cNvPr id="9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10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1100" dirty="0"/>
          </a:p>
        </p:txBody>
      </p:sp>
      <p:sp>
        <p:nvSpPr>
          <p:cNvPr id="11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12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38785"/>
            <a:ext cx="9144000" cy="46304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Clase Cliente + iniciar + paso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38785"/>
            <a:ext cx="9144000" cy="4516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9144635" cy="4523740"/>
          </a:xfrm>
          <a:prstGeom prst="rect">
            <a:avLst/>
          </a:prstGeom>
        </p:spPr>
      </p:pic>
      <p:sp>
        <p:nvSpPr>
          <p:cNvPr id="3" name="Cuadro de texto 2"/>
          <p:cNvSpPr txBox="1"/>
          <p:nvPr/>
        </p:nvSpPr>
        <p:spPr>
          <a:xfrm>
            <a:off x="2778760" y="45262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/>
              <a:t>Simulacion en ejecucion</a:t>
            </a:r>
            <a:endParaRPr lang="es-MX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Importaciones, semilla y generadores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SimulacionCafeteria.java   ·   Líneas 17 – 53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8595360" cy="1133856"/>
          </a:xfrm>
          <a:prstGeom prst="roundRect">
            <a:avLst>
              <a:gd name="adj" fmla="val 3226"/>
            </a:avLst>
          </a:prstGeom>
          <a:solidFill>
            <a:srgbClr val="F0FFF4"/>
          </a:solidFill>
        </p:spPr>
      </p:sp>
      <p:sp>
        <p:nvSpPr>
          <p:cNvPr id="12" name="Text 10"/>
          <p:cNvSpPr/>
          <p:nvPr/>
        </p:nvSpPr>
        <p:spPr>
          <a:xfrm>
            <a:off x="365760" y="4224655"/>
            <a:ext cx="8503920" cy="530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Tema 3 completo en métodos estáticos de Java (líneas 17–53).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745" y="795020"/>
            <a:ext cx="8620125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Clase Cliente, iniciar y paso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SimulacionCafeteria.java   ·   Líneas 54 – 215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483100"/>
            <a:ext cx="8503920" cy="3257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Animación Swing con Timer; genera VA del Tema 3 en cada ciclo.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95655"/>
            <a:ext cx="8599805" cy="36925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8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Clase Cliente, iniciar y paso</a:t>
            </a:r>
            <a:endParaRPr lang="en-US" sz="1300" dirty="0"/>
          </a:p>
        </p:txBody>
      </p:sp>
      <p:sp>
        <p:nvSpPr>
          <p:cNvPr id="9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10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1100" dirty="0"/>
          </a:p>
        </p:txBody>
      </p:sp>
      <p:sp>
        <p:nvSpPr>
          <p:cNvPr id="11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12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10" y="552450"/>
            <a:ext cx="8641080" cy="44284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8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Clase Cliente, iniciar y paso</a:t>
            </a:r>
            <a:endParaRPr lang="en-US" sz="1300" dirty="0"/>
          </a:p>
        </p:txBody>
      </p:sp>
      <p:sp>
        <p:nvSpPr>
          <p:cNvPr id="9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10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1100" dirty="0"/>
          </a:p>
        </p:txBody>
      </p:sp>
      <p:sp>
        <p:nvSpPr>
          <p:cNvPr id="11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12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875" y="572135"/>
            <a:ext cx="8617585" cy="44246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95" y="169545"/>
            <a:ext cx="8610600" cy="4246245"/>
          </a:xfrm>
          <a:prstGeom prst="rect">
            <a:avLst/>
          </a:prstGeom>
        </p:spPr>
      </p:pic>
      <p:sp>
        <p:nvSpPr>
          <p:cNvPr id="3" name="Cuadro de texto 2"/>
          <p:cNvSpPr txBox="1"/>
          <p:nvPr/>
        </p:nvSpPr>
        <p:spPr>
          <a:xfrm>
            <a:off x="3799840" y="455612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/>
              <a:t>Simulasion e ejecucion </a:t>
            </a:r>
            <a:endParaRPr lang="es-MX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Generadores y bucle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276DC3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SimulacionCafeteria.R   ·   Líneas 15 – 114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356735"/>
            <a:ext cx="8503920" cy="3397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Simulación en consola con todos los subtemas 3.1–3.6.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" y="960755"/>
            <a:ext cx="8320405" cy="34010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Generadores y bucle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276DC3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" y="593090"/>
            <a:ext cx="8451215" cy="44030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Generadores y bucle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Cafetería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276DC3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75" y="549275"/>
            <a:ext cx="8039100" cy="43859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410" y="76200"/>
            <a:ext cx="8379460" cy="4387215"/>
          </a:xfrm>
          <a:prstGeom prst="rect">
            <a:avLst/>
          </a:prstGeom>
        </p:spPr>
      </p:pic>
      <p:sp>
        <p:nvSpPr>
          <p:cNvPr id="3" name="Cuadro de texto 2"/>
          <p:cNvSpPr txBox="1"/>
          <p:nvPr/>
        </p:nvSpPr>
        <p:spPr>
          <a:xfrm>
            <a:off x="1906270" y="452564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/>
              <a:t>Ejecucion </a:t>
            </a:r>
            <a:endParaRPr lang="es-MX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8A169"/>
          </a:solidFill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EJEMPLO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MUSEO DE CIENCIAS</a:t>
            </a:r>
            <a:endParaRPr lang="en-US" sz="2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Importaciones y semilla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Museo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SimulacionMuseo.py   ·   Líneas 9 – 15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" y="4431665"/>
            <a:ext cx="8503920" cy="32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Librerías y semilla. Archivo del repositorio: SimulacionMuseo.py (221 líneas).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000" dirty="0"/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545" y="1016635"/>
            <a:ext cx="7310755" cy="30683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Generadores 3.1–3.4.1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Museo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SimulacionMuseo.py   ·   Líneas 17 – 21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8470" y="4408805"/>
            <a:ext cx="8503920" cy="2374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R~U(0,1) y transformada inversa para inter-llegadas.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390" y="1068070"/>
            <a:ext cx="7983220" cy="308038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tipo_visitante() — 3.2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Museo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SimulacionMuseo.py   ·   Líneas 23 – 27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337685"/>
            <a:ext cx="8503920" cy="2933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Escolar 45 %, Individual 35 %, Turista 20 %.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16635"/>
            <a:ext cx="8210550" cy="300863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erlang + composicion — 3.4.2 / 3.4.3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Museo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SimulacionMuseo.py   ·   Líneas 29 – 35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330700"/>
            <a:ext cx="8503920" cy="3543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Escolar: 3 salas (Erlang-3). Turista: 4 salas. Individual: Exponencial.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405" y="860425"/>
            <a:ext cx="8285480" cy="321437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box_muller + chi2 — 3.5 / 3.6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Museo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SimulacionMuseo.py   ·   Líneas 37 – 54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344670"/>
            <a:ext cx="8503920" cy="299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Factor de interés del visitante y validación Chi-cuadrada.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350" y="960120"/>
            <a:ext cx="8359140" cy="317881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Clase Visitante, iniciar y paso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Museo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SimulacionMuseo.py   ·   Líneas 56 – 217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090" y="452628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Animación del recorrido por las cuatro salas aplicando el Tema 3.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75" y="932815"/>
            <a:ext cx="8335645" cy="362775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490" y="128905"/>
            <a:ext cx="8160385" cy="4102735"/>
          </a:xfrm>
          <a:prstGeom prst="rect">
            <a:avLst/>
          </a:prstGeom>
        </p:spPr>
      </p:pic>
      <p:sp>
        <p:nvSpPr>
          <p:cNvPr id="3" name="Cuadro de texto 2"/>
          <p:cNvSpPr txBox="1"/>
          <p:nvPr/>
        </p:nvSpPr>
        <p:spPr>
          <a:xfrm>
            <a:off x="3585845" y="446341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/>
              <a:t>Ejecucion</a:t>
            </a:r>
            <a:endParaRPr lang="es-MX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Generadores Tema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Museo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SimulacionMuseo.java   ·   Líneas 7 – 50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8595360" cy="1133856"/>
          </a:xfrm>
          <a:prstGeom prst="roundRect">
            <a:avLst>
              <a:gd name="adj" fmla="val 3226"/>
            </a:avLst>
          </a:prstGeom>
          <a:solidFill>
            <a:srgbClr val="F0FFF4"/>
          </a:solidFill>
        </p:spPr>
      </p:sp>
      <p:sp>
        <p:nvSpPr>
          <p:cNvPr id="12" name="Text 10"/>
          <p:cNvSpPr/>
          <p:nvPr/>
        </p:nvSpPr>
        <p:spPr>
          <a:xfrm>
            <a:off x="157480" y="4523740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Métodos del Tema 3 y entidad Visitante (líneas 7–50).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59790"/>
            <a:ext cx="858393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iniciar y paso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Museo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SimulacionMuseo.java   ·   Líneas 111 – 164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8595360" cy="694944"/>
          </a:xfrm>
          <a:prstGeom prst="roundRect">
            <a:avLst>
              <a:gd name="adj" fmla="val 5263"/>
            </a:avLst>
          </a:prstGeom>
          <a:solidFill>
            <a:srgbClr val="F0FFF4"/>
          </a:solidFill>
        </p:spPr>
      </p:sp>
      <p:sp>
        <p:nvSpPr>
          <p:cNvPr id="12" name="Text 10"/>
          <p:cNvSpPr/>
          <p:nvPr/>
        </p:nvSpPr>
        <p:spPr>
          <a:xfrm>
            <a:off x="181610" y="4485005"/>
            <a:ext cx="8503920" cy="2698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Timer Swing que genera VA y mueve visitantes entre salas.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960120"/>
            <a:ext cx="8458200" cy="344614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25" y="107315"/>
            <a:ext cx="8108315" cy="4086225"/>
          </a:xfrm>
          <a:prstGeom prst="rect">
            <a:avLst/>
          </a:prstGeom>
        </p:spPr>
      </p:pic>
      <p:sp>
        <p:nvSpPr>
          <p:cNvPr id="3" name="Cuadro de texto 2"/>
          <p:cNvSpPr txBox="1"/>
          <p:nvPr/>
        </p:nvSpPr>
        <p:spPr>
          <a:xfrm>
            <a:off x="3155950" y="447738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/>
              <a:t>Ejecucion</a:t>
            </a:r>
            <a:endParaRPr lang="es-MX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Generadores y bucle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Museo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276DC3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SimulacionMuseo.R   ·   Líneas 5 – 75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8595360" cy="1133856"/>
          </a:xfrm>
          <a:prstGeom prst="roundRect">
            <a:avLst>
              <a:gd name="adj" fmla="val 3226"/>
            </a:avLst>
          </a:prstGeom>
          <a:solidFill>
            <a:srgbClr val="F0FFF4"/>
          </a:solidFill>
        </p:spPr>
      </p:sp>
      <p:sp>
        <p:nvSpPr>
          <p:cNvPr id="12" name="Text 10"/>
          <p:cNvSpPr/>
          <p:nvPr/>
        </p:nvSpPr>
        <p:spPr>
          <a:xfrm>
            <a:off x="274320" y="4457065"/>
            <a:ext cx="8503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Consola: Tema 3 completo para el museo.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340" y="822960"/>
            <a:ext cx="8543925" cy="3606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155" y="92710"/>
            <a:ext cx="6663055" cy="4177030"/>
          </a:xfrm>
          <a:prstGeom prst="rect">
            <a:avLst/>
          </a:prstGeom>
        </p:spPr>
      </p:pic>
      <p:sp>
        <p:nvSpPr>
          <p:cNvPr id="3" name="Cuadro de texto 2"/>
          <p:cNvSpPr txBox="1"/>
          <p:nvPr/>
        </p:nvSpPr>
        <p:spPr>
          <a:xfrm>
            <a:off x="2160270" y="447992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/>
              <a:t>Ejecucion </a:t>
            </a:r>
            <a:endParaRPr lang="es-MX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6B20"/>
          </a:solidFill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EJEMPLO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TRÁFICO</a:t>
            </a:r>
            <a:endParaRPr lang="en-US" sz="2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Importaciones y semilla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Tráfico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SimulacionTrafico.py   ·   Líneas 10 – 16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8595360" cy="694944"/>
          </a:xfrm>
          <a:prstGeom prst="roundRect">
            <a:avLst>
              <a:gd name="adj" fmla="val 5263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411480" y="969264"/>
            <a:ext cx="832104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math, random, tkinter…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random.seed(99)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055" y="4500245"/>
            <a:ext cx="8503920" cy="2546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Semilla 99 (secuencia distinta a cafetería y museo).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535" y="932815"/>
            <a:ext cx="8526780" cy="348424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uniforme + exponencial — 3.4.1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Tráfico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SimulacionTrafico.py   ·   Líneas 18 – 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8595360" cy="914400"/>
          </a:xfrm>
          <a:prstGeom prst="roundRect">
            <a:avLst>
              <a:gd name="adj" fmla="val 4000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411480" y="969264"/>
            <a:ext cx="8321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uniforme(): return random.random()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exponencial(lam):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-math.log(1-uniforme())/lam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" y="4410075"/>
            <a:ext cx="8503920" cy="289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Transformada inversa para tiempos entre llegadas de vehículos.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47725"/>
            <a:ext cx="8595360" cy="347281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tipo_vehiculo() — 3.2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Tráfico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SimulacionTrafico.py   ·   Líneas 25 – 30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8595360" cy="1353312"/>
          </a:xfrm>
          <a:prstGeom prst="roundRect">
            <a:avLst>
              <a:gd name="adj" fmla="val 2703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411480" y="969264"/>
            <a:ext cx="8321040" cy="1261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tipo_vehiculo():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 = uniforme()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u &lt; 0.70: return "auto"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u &lt; 0.90: return "camion"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"moto"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462780"/>
            <a:ext cx="8503920" cy="2921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 70 %, camión 20 %, moto 10 %.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32815"/>
            <a:ext cx="8610600" cy="331533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erlang + composicion_cruce — 3.4.2 / 3.4.3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Tráfico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SimulacionTrafico.py   ·   Líneas 32 – 40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8595360" cy="1353312"/>
          </a:xfrm>
          <a:prstGeom prst="roundRect">
            <a:avLst>
              <a:gd name="adj" fmla="val 2703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411480" y="969264"/>
            <a:ext cx="8321040" cy="1261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erlang_convolucion(k, mu): 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composicion_cruce(tipo):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tipo == "camion": return erlang_convolucion(2, 3.0)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tipo == "moto": return exponencial(10.0)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exponencial(8.0)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353560"/>
            <a:ext cx="8503920" cy="3390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Camión: convolución de 2 fases. Auto/moto: Exponencial.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41705"/>
            <a:ext cx="8563610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box_muller + chi2 — 3.5 / 3.6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Tráfico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SimulacionTrafico.py   ·   Líneas 42 – 59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8595360" cy="694944"/>
          </a:xfrm>
          <a:prstGeom prst="roundRect">
            <a:avLst>
              <a:gd name="adj" fmla="val 5263"/>
            </a:avLst>
          </a:prstGeom>
          <a:solidFill>
            <a:srgbClr val="F0FFF4"/>
          </a:solidFill>
        </p:spPr>
      </p:sp>
      <p:sp>
        <p:nvSpPr>
          <p:cNvPr id="11" name="Text 9"/>
          <p:cNvSpPr/>
          <p:nvPr/>
        </p:nvSpPr>
        <p:spPr>
          <a:xfrm>
            <a:off x="411480" y="969264"/>
            <a:ext cx="832104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normal_box_muller(mu, sigma): 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prueba_chi2(datos, lam, k=6): 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537710"/>
            <a:ext cx="8503920" cy="2171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Reacción del conductor (Normal) y validación Chi-cuadrada.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560" y="889635"/>
            <a:ext cx="8595360" cy="353949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Clase Vehiculo, iniciar y paso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Tráfico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SimulacionTrafico.py   ·   Líneas 61 – 233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8595360" cy="1133856"/>
          </a:xfrm>
          <a:prstGeom prst="roundRect">
            <a:avLst>
              <a:gd name="adj" fmla="val 3226"/>
            </a:avLst>
          </a:prstGeom>
          <a:solidFill>
            <a:srgbClr val="F0FFF4"/>
          </a:solidFill>
        </p:spPr>
      </p:sp>
      <p:sp>
        <p:nvSpPr>
          <p:cNvPr id="12" name="Text 10"/>
          <p:cNvSpPr/>
          <p:nvPr/>
        </p:nvSpPr>
        <p:spPr>
          <a:xfrm>
            <a:off x="320040" y="4207510"/>
            <a:ext cx="8503920" cy="2292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Animación de intersección con semáforo e integración del Tema 3</a:t>
            </a:r>
            <a:endParaRPr lang="en-US" sz="1200" dirty="0">
              <a:solidFill>
                <a:srgbClr val="1A20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class Vehiculo: …         # L61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def iniciar(self): …       # L159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def paso(self): …          # L178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1000" dirty="0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60425"/>
            <a:ext cx="8503920" cy="308165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370" y="358140"/>
            <a:ext cx="8326120" cy="3932555"/>
          </a:xfrm>
          <a:prstGeom prst="rect">
            <a:avLst/>
          </a:prstGeom>
        </p:spPr>
      </p:pic>
      <p:sp>
        <p:nvSpPr>
          <p:cNvPr id="3" name="Cuadro de texto 2"/>
          <p:cNvSpPr txBox="1"/>
          <p:nvPr/>
        </p:nvSpPr>
        <p:spPr>
          <a:xfrm>
            <a:off x="3048000" y="429069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/>
              <a:t>Ejecucion</a:t>
            </a:r>
            <a:endParaRPr lang="es-MX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Generadores Tema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Tráfico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SimulacionTrafico.java   ·   Líneas 7 – 50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70400"/>
            <a:ext cx="8503920" cy="2292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Tema 3 en Java para la intersección (líneas 7–50).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745" y="932815"/>
            <a:ext cx="738251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iniciar y paso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Tráfico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B07219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SimulacionTrafico.java   ·   Líneas 121 – 174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" y="4442460"/>
            <a:ext cx="8503920" cy="2019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Timer que alterna el semáforo y genera VA de cada vehículo.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75" y="859155"/>
            <a:ext cx="8199120" cy="35585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Generadores y bucle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640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5943600" y="82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Tráfico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6400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276DC3"/>
          </a:solidFill>
        </p:spPr>
      </p:sp>
      <p:sp>
        <p:nvSpPr>
          <p:cNvPr id="7" name="Text 5"/>
          <p:cNvSpPr/>
          <p:nvPr/>
        </p:nvSpPr>
        <p:spPr>
          <a:xfrm>
            <a:off x="7452360" y="82296"/>
            <a:ext cx="1417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8595360" cy="292608"/>
          </a:xfrm>
          <a:prstGeom prst="roundRect">
            <a:avLst>
              <a:gd name="adj" fmla="val 12500"/>
            </a:avLst>
          </a:prstGeom>
          <a:solidFill>
            <a:srgbClr val="2B6CB0"/>
          </a:solidFill>
        </p:spPr>
      </p:sp>
      <p:sp>
        <p:nvSpPr>
          <p:cNvPr id="9" name="Text 7"/>
          <p:cNvSpPr/>
          <p:nvPr/>
        </p:nvSpPr>
        <p:spPr>
          <a:xfrm>
            <a:off x="411480" y="530352"/>
            <a:ext cx="8321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📄 SimulacionTrafico.R   ·   Líneas 5 – 81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8595360" cy="1133856"/>
          </a:xfrm>
          <a:prstGeom prst="roundRect">
            <a:avLst>
              <a:gd name="adj" fmla="val 3226"/>
            </a:avLst>
          </a:prstGeom>
          <a:solidFill>
            <a:srgbClr val="F0FFF4"/>
          </a:solidFill>
        </p:spPr>
      </p:sp>
      <p:sp>
        <p:nvSpPr>
          <p:cNvPr id="12" name="Text 10"/>
          <p:cNvSpPr/>
          <p:nvPr/>
        </p:nvSpPr>
        <p:spPr>
          <a:xfrm>
            <a:off x="365760" y="4441825"/>
            <a:ext cx="8503920" cy="2552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Consola: bitácora, Chi-cuadrada y proporciones 70/20/10.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1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25" y="859790"/>
            <a:ext cx="8455025" cy="348043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390" y="223520"/>
            <a:ext cx="7983220" cy="3954145"/>
          </a:xfrm>
          <a:prstGeom prst="rect">
            <a:avLst/>
          </a:prstGeom>
        </p:spPr>
      </p:pic>
      <p:sp>
        <p:nvSpPr>
          <p:cNvPr id="3" name="Cuadro de texto 2"/>
          <p:cNvSpPr txBox="1"/>
          <p:nvPr/>
        </p:nvSpPr>
        <p:spPr>
          <a:xfrm>
            <a:off x="2777490" y="445516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/>
              <a:t>Ejecucion</a:t>
            </a:r>
            <a:endParaRPr lang="es-MX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Comparación de implementaciones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011680" cy="54864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5" name="Text 3"/>
          <p:cNvSpPr/>
          <p:nvPr/>
        </p:nvSpPr>
        <p:spPr>
          <a:xfrm>
            <a:off x="320040" y="77724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Aspecto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640080"/>
            <a:ext cx="2286000" cy="54864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7" name="Text 5"/>
          <p:cNvSpPr/>
          <p:nvPr/>
        </p:nvSpPr>
        <p:spPr>
          <a:xfrm>
            <a:off x="2331720" y="777240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640080"/>
            <a:ext cx="2194560" cy="54864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9" name="Text 7"/>
          <p:cNvSpPr/>
          <p:nvPr/>
        </p:nvSpPr>
        <p:spPr>
          <a:xfrm>
            <a:off x="4617720" y="77724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640080"/>
            <a:ext cx="2103120" cy="54864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11" name="Text 9"/>
          <p:cNvSpPr/>
          <p:nvPr/>
        </p:nvSpPr>
        <p:spPr>
          <a:xfrm>
            <a:off x="6812280" y="77724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2011680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320040" y="132588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1188720"/>
            <a:ext cx="2286000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2331720" y="1325880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Simulacion*.py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2194560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4617720" y="132588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Simulacion*.java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188720"/>
            <a:ext cx="2103120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6812280" y="132588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Simulacion*.R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1737360"/>
            <a:ext cx="2011680" cy="54864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21" name="Text 19"/>
          <p:cNvSpPr/>
          <p:nvPr/>
        </p:nvSpPr>
        <p:spPr>
          <a:xfrm>
            <a:off x="320040" y="187452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R~U(0,1)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0" y="1737360"/>
            <a:ext cx="2286000" cy="54864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23" name="Text 21"/>
          <p:cNvSpPr/>
          <p:nvPr/>
        </p:nvSpPr>
        <p:spPr>
          <a:xfrm>
            <a:off x="2331720" y="1874520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random.random()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1737360"/>
            <a:ext cx="2194560" cy="54864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25" name="Text 23"/>
          <p:cNvSpPr/>
          <p:nvPr/>
        </p:nvSpPr>
        <p:spPr>
          <a:xfrm>
            <a:off x="4617720" y="187452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nextDouble()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66560" y="1737360"/>
            <a:ext cx="2103120" cy="54864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27" name="Text 25"/>
          <p:cNvSpPr/>
          <p:nvPr/>
        </p:nvSpPr>
        <p:spPr>
          <a:xfrm>
            <a:off x="6812280" y="187452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runif(1)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2286000"/>
            <a:ext cx="2011680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320040" y="242316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Semilla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0" y="2286000"/>
            <a:ext cx="2286000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2331720" y="2423160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random.seed()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2286000"/>
            <a:ext cx="2194560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4617720" y="24231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Random()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66560" y="2286000"/>
            <a:ext cx="2103120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5" name="Text 33"/>
          <p:cNvSpPr/>
          <p:nvPr/>
        </p:nvSpPr>
        <p:spPr>
          <a:xfrm>
            <a:off x="6812280" y="24231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set.seed()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2834640"/>
            <a:ext cx="2011680" cy="54864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37" name="Text 35"/>
          <p:cNvSpPr/>
          <p:nvPr/>
        </p:nvSpPr>
        <p:spPr>
          <a:xfrm>
            <a:off x="320040" y="297180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3.4.1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286000" y="2834640"/>
            <a:ext cx="2286000" cy="54864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39" name="Text 37"/>
          <p:cNvSpPr/>
          <p:nvPr/>
        </p:nvSpPr>
        <p:spPr>
          <a:xfrm>
            <a:off x="2331720" y="2971800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-log(1-R)/λ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0" y="2834640"/>
            <a:ext cx="2194560" cy="54864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41" name="Text 39"/>
          <p:cNvSpPr/>
          <p:nvPr/>
        </p:nvSpPr>
        <p:spPr>
          <a:xfrm>
            <a:off x="4617720" y="297180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-Math.log(1-R)/λ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766560" y="2834640"/>
            <a:ext cx="2103120" cy="54864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43" name="Text 41"/>
          <p:cNvSpPr/>
          <p:nvPr/>
        </p:nvSpPr>
        <p:spPr>
          <a:xfrm>
            <a:off x="6812280" y="297180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-log(1-R)/λ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3383280"/>
            <a:ext cx="2011680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5" name="Text 43"/>
          <p:cNvSpPr/>
          <p:nvPr/>
        </p:nvSpPr>
        <p:spPr>
          <a:xfrm>
            <a:off x="320040" y="352044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Salida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286000" y="3383280"/>
            <a:ext cx="2286000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7" name="Text 45"/>
          <p:cNvSpPr/>
          <p:nvPr/>
        </p:nvSpPr>
        <p:spPr>
          <a:xfrm>
            <a:off x="2331720" y="3520440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Animación+gráficas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72000" y="3383280"/>
            <a:ext cx="2194560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4617720" y="352044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Animación Swing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766560" y="3383280"/>
            <a:ext cx="2103120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1" name="Text 49"/>
          <p:cNvSpPr/>
          <p:nvPr/>
        </p:nvSpPr>
        <p:spPr>
          <a:xfrm>
            <a:off x="6812280" y="352044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Consola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Java, Python y R resuelven el mismo problema —generar variables aleatorias para tres simulaciones de eventos discretos— con generadores propios de cada lenguaje. La lógica es la misma: una semilla, un número R en (0,1) y la aplicación de los métodos del Tema 3 de la Instrumentación Didáctica (SCD-1022).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4124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transformada inversa produce Exponenciales; la convolución construye Erlang; la composición mezcla distribuciones según el tipo de entidad; Box-Muller aporta la Normal; y la Chi-cuadrada valida el ajuste. Python y Java muestran la simulación en un entorno gráfico animado con panel de resultados, mientras que R se centra en la salida numérica. Los archivos entregados son SimulacionCafeteria, SimulacionMuseo y SimulacionTrafico en los tres lenguajes, y esta práctica permitió aplicar de forma concreta todo el Tema 3.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274320" y="73152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Fuentes de información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59435" y="682625"/>
            <a:ext cx="8412480" cy="34740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s-MX" sz="1300" dirty="0"/>
              <a:t>Instrumentaci</a:t>
            </a:r>
            <a:r>
              <a:rPr lang="en-US" altLang="en-US" sz="1300" dirty="0"/>
              <a:t>ó</a:t>
            </a:r>
            <a:r>
              <a:rPr lang="en-US" altLang="es-MX" sz="1300" dirty="0"/>
              <a:t>n Did</a:t>
            </a:r>
            <a:r>
              <a:rPr lang="en-US" altLang="en-US" sz="1300" dirty="0"/>
              <a:t>á</a:t>
            </a:r>
            <a:r>
              <a:rPr lang="en-US" altLang="es-MX" sz="1300" dirty="0"/>
              <a:t>ctica — Asignatura Simulaci</a:t>
            </a:r>
            <a:r>
              <a:rPr lang="en-US" altLang="en-US" sz="1300" dirty="0"/>
              <a:t>ó</a:t>
            </a:r>
            <a:r>
              <a:rPr lang="en-US" altLang="es-MX" sz="1300" dirty="0"/>
              <a:t>n (SCD-1022), TecNM. Tema 3: Generaci</a:t>
            </a:r>
            <a:r>
              <a:rPr lang="en-US" altLang="en-US" sz="1300" dirty="0"/>
              <a:t>ó</a:t>
            </a:r>
            <a:r>
              <a:rPr lang="en-US" altLang="es-MX" sz="1300" dirty="0"/>
              <a:t>n de variables aleatorias.</a:t>
            </a:r>
            <a:endParaRPr lang="en-US" altLang="es-MX" sz="13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s-MX" sz="1300" dirty="0"/>
              <a:t>Oracle. Random (Java SE): </a:t>
            </a:r>
            <a:r>
              <a:rPr lang="en-US" altLang="es-MX" sz="1300" dirty="0">
                <a:hlinkClick r:id="rId1" action="ppaction://hlinkfile"/>
              </a:rPr>
              <a:t>https://docs.oracle.com/en/java/javase/21/docs/api/java.base/java/util/Random.html</a:t>
            </a:r>
            <a:endParaRPr lang="en-US" altLang="es-MX" sz="13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s-MX" sz="1300" dirty="0"/>
              <a:t>Python Software Foundation. random: </a:t>
            </a:r>
            <a:r>
              <a:rPr lang="en-US" altLang="es-MX" sz="1300" dirty="0">
                <a:hlinkClick r:id="rId2" action="ppaction://hlinkfile"/>
              </a:rPr>
              <a:t>https://docs.python.org/3/library/random.html</a:t>
            </a:r>
            <a:endParaRPr lang="en-US" altLang="es-MX" sz="13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s-MX" sz="1300" dirty="0"/>
              <a:t>The R Core Team. Random number generation: </a:t>
            </a:r>
            <a:r>
              <a:rPr lang="en-US" altLang="es-MX" sz="1300" dirty="0">
                <a:hlinkClick r:id="rId3" action="ppaction://hlinkfile"/>
              </a:rPr>
              <a:t>https://stat.ethz.ch/R-manual/R-devel/library/base/html/Random.html</a:t>
            </a:r>
            <a:endParaRPr lang="en-US" altLang="es-MX" sz="13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s-MX" sz="1300" dirty="0"/>
              <a:t>Kelton, W.D. et al. Simulaci</a:t>
            </a:r>
            <a:r>
              <a:rPr lang="en-US" altLang="en-US" sz="1300" dirty="0"/>
              <a:t>ó</a:t>
            </a:r>
            <a:r>
              <a:rPr lang="en-US" altLang="es-MX" sz="1300" dirty="0"/>
              <a:t>n con software Arena. McGraw-Hill.</a:t>
            </a:r>
            <a:endParaRPr lang="en-US" altLang="es-MX" sz="13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s-MX" sz="1300" dirty="0"/>
              <a:t>Law, A.M. &amp; Kelton, W.D. Simulation Modeling &amp; Analysis. McGraw-Hill.</a:t>
            </a:r>
            <a:endParaRPr lang="en-US" altLang="es-MX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7863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| 241260049 | Tema 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uadro de texto 1"/>
          <p:cNvSpPr txBox="1"/>
          <p:nvPr/>
        </p:nvSpPr>
        <p:spPr>
          <a:xfrm>
            <a:off x="2903220" y="51879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n-US"/>
              <a:t>ANEXO ENLACE GIT</a:t>
            </a:r>
            <a:endParaRPr lang="es-MX" altLang="en-US"/>
          </a:p>
        </p:txBody>
      </p:sp>
      <p:sp>
        <p:nvSpPr>
          <p:cNvPr id="3" name="Cuadro de texto 2"/>
          <p:cNvSpPr txBox="1"/>
          <p:nvPr/>
        </p:nvSpPr>
        <p:spPr>
          <a:xfrm>
            <a:off x="1318260" y="1146810"/>
            <a:ext cx="59074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MX">
                <a:hlinkClick r:id="rId1" action="ppaction://hlinkfile"/>
              </a:rPr>
              <a:t>https://github.com/angelmalu18/Sim-Tema_3-180926.git</a:t>
            </a:r>
            <a:endParaRPr lang="en-US" altLang="es-MX"/>
          </a:p>
          <a:p>
            <a:endParaRPr lang="en-US" alt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12221</Words>
  <Application>WPS Presentation</Application>
  <PresentationFormat>On-screen Show (16:9)</PresentationFormat>
  <Paragraphs>672</Paragraphs>
  <Slides>55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9" baseType="lpstr">
      <vt:lpstr>Arial</vt:lpstr>
      <vt:lpstr>SimSun</vt:lpstr>
      <vt:lpstr>Wingdings</vt:lpstr>
      <vt:lpstr>Calibri</vt:lpstr>
      <vt:lpstr>Calibri</vt:lpstr>
      <vt:lpstr>Calibri</vt:lpstr>
      <vt:lpstr>Times New Roman</vt:lpstr>
      <vt:lpstr>Microsoft YaHei</vt:lpstr>
      <vt:lpstr>Arial Unicode MS</vt:lpstr>
      <vt:lpstr>Consolas</vt:lpstr>
      <vt:lpstr>Consolas</vt:lpstr>
      <vt:lpstr>Consolas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Practica Tema 3 - Generacion de Variables Aleatorias</dc:title>
  <dc:creator>Jose Angel Gomez Rincon</dc:creator>
  <dc:subject>PptxGenJS Presentation</dc:subject>
  <cp:lastModifiedBy>EVIL RABYT</cp:lastModifiedBy>
  <cp:revision>7</cp:revision>
  <dcterms:created xsi:type="dcterms:W3CDTF">2026-09-18T23:33:00Z</dcterms:created>
  <dcterms:modified xsi:type="dcterms:W3CDTF">2026-09-19T03:49:35Z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BED96E5399C9440895C900D83FCC9601_13</vt:lpwstr>
  </property>
  <property fmtid="{D5CDD505-2E9C-101B-9397-08002B2CF9AE}" pid="3" name="KSOProductBuildVer">
    <vt:lpwstr>2058-12.1.0.28485</vt:lpwstr>
  </property>
</Properties>
</file>